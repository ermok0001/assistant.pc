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07E3"/>
    <a:srgbClr val="0A61FE"/>
    <a:srgbClr val="303030"/>
    <a:srgbClr val="00276C"/>
    <a:srgbClr val="550359"/>
    <a:srgbClr val="013797"/>
    <a:srgbClr val="0C648C"/>
    <a:srgbClr val="1B00C0"/>
    <a:srgbClr val="100070"/>
    <a:srgbClr val="590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3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56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4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57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95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21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29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57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57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83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22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03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0B55C-63DE-4E3A-BF4E-78B7137685D2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89E9-F626-453A-80C9-3FF20142C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55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36" y="243951"/>
            <a:ext cx="11620758" cy="5643501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4768" y="3229590"/>
            <a:ext cx="861548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Pika Local — голосовой ассистент для упрощенного управления ПК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315613" y="6158928"/>
            <a:ext cx="35858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Докладчик：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Ерасыл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Кантаев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0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7690" cy="6858000"/>
          </a:xfr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9277" y="2813447"/>
            <a:ext cx="303913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5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Каталог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408818" y="790724"/>
            <a:ext cx="7700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68EFF"/>
                </a:solidFill>
                <a:effectLst/>
                <a:latin typeface="Poppins"/>
              </a:rPr>
              <a:t>01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408817" y="2300413"/>
            <a:ext cx="7700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68EFF"/>
                </a:solidFill>
                <a:effectLst/>
                <a:latin typeface="Poppins"/>
              </a:rPr>
              <a:t>02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408817" y="3810102"/>
            <a:ext cx="7700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68EFF"/>
                </a:solidFill>
                <a:effectLst/>
                <a:latin typeface="Poppins"/>
              </a:rPr>
              <a:t>03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408817" y="5236442"/>
            <a:ext cx="7700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68EFF"/>
                </a:solidFill>
                <a:effectLst/>
                <a:latin typeface="Poppins"/>
              </a:rPr>
              <a:t>04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7178838" y="821502"/>
            <a:ext cx="396641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Контекст и проблема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178838" y="2332934"/>
            <a:ext cx="396641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Решение</a:t>
            </a:r>
            <a:r>
              <a:rPr lang="en-US" altLang="ru-RU" sz="2800" b="1" dirty="0" smtClean="0">
                <a:solidFill>
                  <a:srgbClr val="FFFFFF"/>
                </a:solidFill>
                <a:latin typeface="Poppins"/>
              </a:rPr>
              <a:t>:</a:t>
            </a:r>
            <a:r>
              <a:rPr lang="ru-RU" altLang="ru-RU" sz="2800" b="1" dirty="0" smtClean="0">
                <a:solidFill>
                  <a:srgbClr val="FFFFFF"/>
                </a:solidFill>
                <a:latin typeface="Poppins"/>
              </a:rPr>
              <a:t> </a:t>
            </a:r>
            <a:r>
              <a:rPr lang="en-US" altLang="ru-RU" sz="2800" b="1" dirty="0" smtClean="0">
                <a:solidFill>
                  <a:srgbClr val="FFFFFF"/>
                </a:solidFill>
                <a:latin typeface="Poppins"/>
              </a:rPr>
              <a:t>Pika Local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Poppi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7178838" y="3726753"/>
            <a:ext cx="44356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Техническая</a:t>
            </a:r>
            <a:r>
              <a:rPr kumimoji="0" lang="ru-RU" altLang="ru-RU" sz="2400" b="1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 архитектура и статус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7178838" y="5319791"/>
            <a:ext cx="47725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План развития и внедрения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5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3" y="224588"/>
            <a:ext cx="11765540" cy="6389641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24310" y="2396269"/>
            <a:ext cx="1552746" cy="115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27567" y="3384827"/>
            <a:ext cx="69462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5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Контекст и проблема</a:t>
            </a: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0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Вызовы современных интерфейсов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2215175"/>
            <a:ext cx="509938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Перегруженность и когнитивная нагрузка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1" y="3530737"/>
            <a:ext cx="47925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Современные ОС наполнены бесконечными меню, иконками и вложенными настройками, превращая простые действия в квест, особенно для пожилых пользователей и технических новичков.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5953627" y="2215175"/>
            <a:ext cx="0" cy="352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276473" y="2230563"/>
            <a:ext cx="4944979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Барьеры моторики и ошибок взаимодействия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6276473" y="3564295"/>
            <a:ext cx="503321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Мышь и тачпад требуют точных движений, усложняя жизнь людям с моторными ограничениями и усиливая риск случайных нажатий, неверной навигации и пропущенных уведомлений.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37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155032" y="2069432"/>
            <a:ext cx="4604084" cy="3545304"/>
          </a:xfrm>
          <a:prstGeom prst="rect">
            <a:avLst/>
          </a:prstGeom>
          <a:solidFill>
            <a:srgbClr val="1035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749716" y="2069432"/>
            <a:ext cx="4604084" cy="3545304"/>
          </a:xfrm>
          <a:prstGeom prst="rect">
            <a:avLst/>
          </a:prstGeom>
          <a:solidFill>
            <a:srgbClr val="590278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Кому нужен голосовой ассистент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55032" y="1846728"/>
            <a:ext cx="4604084" cy="222703"/>
          </a:xfrm>
          <a:prstGeom prst="rect">
            <a:avLst/>
          </a:prstGeom>
          <a:solidFill>
            <a:srgbClr val="53A2DD"/>
          </a:solidFill>
          <a:ln w="12700" cap="rnd" cmpd="thickThin">
            <a:solidFill>
              <a:schemeClr val="accent1">
                <a:shade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749716" y="1846728"/>
            <a:ext cx="4604084" cy="222704"/>
          </a:xfrm>
          <a:prstGeom prst="rect">
            <a:avLst/>
          </a:prstGeom>
          <a:solidFill>
            <a:srgbClr val="C834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155032" y="2069432"/>
            <a:ext cx="4604084" cy="3545305"/>
          </a:xfrm>
          <a:prstGeom prst="rect">
            <a:avLst/>
          </a:prstGeom>
          <a:noFill/>
          <a:ln>
            <a:solidFill>
              <a:srgbClr val="53A2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749716" y="2069432"/>
            <a:ext cx="4604084" cy="3545304"/>
          </a:xfrm>
          <a:prstGeom prst="rect">
            <a:avLst/>
          </a:prstGeom>
          <a:noFill/>
          <a:ln>
            <a:solidFill>
              <a:srgbClr val="C834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362635" y="2524104"/>
            <a:ext cx="43964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Пожилые пользователи и новички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6980911" y="2420034"/>
            <a:ext cx="414169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7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Люди с особыми потребностями и их окружение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362635" y="3652027"/>
            <a:ext cx="3890682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Пожилые и начинающие пользователи часто боятся «сломать» компьютер. Голосовой помощник снимает барьер, превращая сложные действия в простой разговор.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980910" y="3652026"/>
            <a:ext cx="414169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Пользователи с нарушениями моторики и временными травмами, любители голосового управления, а также родственники и волонтёры, поддерживающие пожилых людей.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2303929" y="3196916"/>
            <a:ext cx="1882589" cy="0"/>
          </a:xfrm>
          <a:prstGeom prst="line">
            <a:avLst/>
          </a:prstGeom>
          <a:ln>
            <a:solidFill>
              <a:srgbClr val="53A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8110463" y="3214410"/>
            <a:ext cx="1882589" cy="0"/>
          </a:xfrm>
          <a:prstGeom prst="line">
            <a:avLst/>
          </a:prstGeom>
          <a:ln>
            <a:solidFill>
              <a:srgbClr val="C834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55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1" y="233082"/>
            <a:ext cx="11698408" cy="6353183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02889" y="2270900"/>
            <a:ext cx="150607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281783" y="3409673"/>
            <a:ext cx="754828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Решение: Pika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16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5782"/>
            <a:ext cx="4899212" cy="1996972"/>
          </a:xfrm>
        </p:spPr>
      </p:pic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Что такое Pika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201" y="1875782"/>
            <a:ext cx="4951599" cy="1996972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38200" y="4362947"/>
            <a:ext cx="42358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Локально, доступно и без облака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4711014"/>
            <a:ext cx="48992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Ассистент работает полностью офлайн, выполняет системные операции и управляет приложениями, предлагая простой, инклюзивный интерфейс, понятный без технических терминов и сложных настроек.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402201" y="4362947"/>
            <a:ext cx="4951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Голосовой ИИ‑ассистент на вашем ПК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402201" y="4711014"/>
            <a:ext cx="495131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Pika Local превращает голос в команды для управления компьютером, реагирует на естественную речь, помогает сосредоточиться на творчестве, а не на поиске нужных кнопок.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489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1" y="2184261"/>
            <a:ext cx="2209800" cy="288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Ключевые сценарии использования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99012" y="2556514"/>
            <a:ext cx="32452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Управление приложениями и экраном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299012" y="3106828"/>
            <a:ext cx="261769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Быстрый запуск программ голосом, открытие нужных окон и управление яркостью экрана позволяет работать без мыши и клавиатуры, сохраняя концентрацию и ритм творчества.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365" y="2184260"/>
            <a:ext cx="2209801" cy="2880633"/>
          </a:xfrm>
          <a:prstGeom prst="rect">
            <a:avLst/>
          </a:prstGeom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8766072" y="2482570"/>
            <a:ext cx="30442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Звук, система, навигация и подсказки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8766072" y="3106828"/>
            <a:ext cx="275546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Голосовое управление громкостью, завершением работы, навигацией по папкам и запросами помощи делает рабочее место по-настоящему инклюзивным, снижая барьеры и усталость.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374032" y="2360723"/>
            <a:ext cx="246765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8834956" y="2360723"/>
            <a:ext cx="261769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1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3" y="224588"/>
            <a:ext cx="11765540" cy="6389641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24310" y="2396269"/>
            <a:ext cx="1552746" cy="115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03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622884" y="3244782"/>
            <a:ext cx="69462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400" dirty="0" smtClean="0">
                <a:solidFill>
                  <a:srgbClr val="FFFFFF"/>
                </a:solidFill>
                <a:latin typeface="Poppins"/>
              </a:rPr>
              <a:t>Техническая архитектура и статус</a:t>
            </a: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173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2468880" y="4038592"/>
            <a:ext cx="8884920" cy="1550319"/>
          </a:xfrm>
          <a:prstGeom prst="rect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255520" y="2185180"/>
            <a:ext cx="8884920" cy="1550319"/>
          </a:xfrm>
          <a:prstGeom prst="rect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283369" y="3644152"/>
            <a:ext cx="2145631" cy="226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Высокоуровневая архитектура Pika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Равнобедренный треугольник 4"/>
          <p:cNvSpPr/>
          <p:nvPr/>
        </p:nvSpPr>
        <p:spPr>
          <a:xfrm>
            <a:off x="1283369" y="1690688"/>
            <a:ext cx="2145631" cy="2069431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Трапеция 7"/>
          <p:cNvSpPr/>
          <p:nvPr/>
        </p:nvSpPr>
        <p:spPr>
          <a:xfrm>
            <a:off x="480862" y="4075283"/>
            <a:ext cx="3750644" cy="1487317"/>
          </a:xfrm>
          <a:prstGeom prst="trapezoid">
            <a:avLst>
              <a:gd name="adj" fmla="val 4830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206366" y="3964442"/>
            <a:ext cx="2299636" cy="221681"/>
          </a:xfrm>
          <a:prstGeom prst="ellipse">
            <a:avLst/>
          </a:prstGeom>
          <a:solidFill>
            <a:srgbClr val="003E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80862" y="5398770"/>
            <a:ext cx="3750644" cy="327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29000" y="2391497"/>
            <a:ext cx="44805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Пирамида действий и безопасности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429000" y="2795877"/>
            <a:ext cx="751332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Модуль системных сценариев и интеграционные адаптеры запускают точные команды в ОС и приложениях, а базовая безопасность ограничивает права и прозрачно логирует все критические действия.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057801" y="2892441"/>
            <a:ext cx="5967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7801" y="4771579"/>
            <a:ext cx="5967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274820" y="4229991"/>
            <a:ext cx="52730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Пирамида уровней взаимодействия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231506" y="4576865"/>
            <a:ext cx="716139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От интуитивного голосового интерфейса и минималистичного GUI до интерпретации команд NLU, каждый слой бережно переводит творческое намерение в понятное машине действие.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933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66241"/>
            <a:ext cx="86521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Пост</a:t>
            </a:r>
            <a:r>
              <a:rPr kumimoji="0" lang="ru-RU" altLang="ru-RU" sz="3600" b="1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 обработки голосовой команды</a:t>
            </a:r>
            <a:endParaRPr kumimoji="0" lang="ru-RU" altLang="ru-RU" sz="36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Poppi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6400800" y="2865120"/>
            <a:ext cx="4876800" cy="2438400"/>
          </a:xfrm>
          <a:prstGeom prst="roundRect">
            <a:avLst/>
          </a:prstGeom>
          <a:solidFill>
            <a:srgbClr val="55035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579120" y="2865120"/>
            <a:ext cx="4876800" cy="2438400"/>
          </a:xfrm>
          <a:prstGeom prst="roundRect">
            <a:avLst/>
          </a:prstGeom>
          <a:solidFill>
            <a:srgbClr val="00276C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341120" y="2592705"/>
            <a:ext cx="3352800" cy="544830"/>
          </a:xfrm>
          <a:prstGeom prst="roundRect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7162800" y="2592705"/>
            <a:ext cx="3352800" cy="544830"/>
          </a:xfrm>
          <a:prstGeom prst="roundRect">
            <a:avLst/>
          </a:prstGeom>
          <a:solidFill>
            <a:srgbClr val="D907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3017520" y="2148840"/>
            <a:ext cx="58216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/>
          <p:cNvSpPr/>
          <p:nvPr/>
        </p:nvSpPr>
        <p:spPr>
          <a:xfrm>
            <a:off x="2768600" y="1958340"/>
            <a:ext cx="381000" cy="381000"/>
          </a:xfrm>
          <a:prstGeom prst="ellipse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8648700" y="1958340"/>
            <a:ext cx="381000" cy="381000"/>
          </a:xfrm>
          <a:prstGeom prst="ellipse">
            <a:avLst/>
          </a:prstGeom>
          <a:solidFill>
            <a:srgbClr val="D907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515110" y="2617467"/>
            <a:ext cx="28879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От улавливания голоса к пониманию намерения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256780" y="2617467"/>
            <a:ext cx="32588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От интерпретации к действию и обратной связи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95020" y="3633032"/>
            <a:ext cx="43281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Пользователь активирует ассистента, локальный модуль записывает речь, конвертирует её в текст, затем NLU анализирует фразу, выявляет цель, объекты и параметры команды.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6729095" y="3499543"/>
            <a:ext cx="431419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Система сопоставляет результат анализа с поддерживаемыми сценариями, выполняет соответствующее действие или запускает программу, после чего отправляет пользователю голосовое либо текстовое подтверждение.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0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3" y="224588"/>
            <a:ext cx="11765540" cy="6389641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24310" y="2396269"/>
            <a:ext cx="1552746" cy="115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04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622884" y="3244782"/>
            <a:ext cx="69462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400" dirty="0" smtClean="0">
                <a:solidFill>
                  <a:srgbClr val="FFFFFF"/>
                </a:solidFill>
                <a:latin typeface="Poppins"/>
              </a:rPr>
              <a:t>План развития и внедрения</a:t>
            </a: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97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Дорожная карта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3189" y="1812758"/>
            <a:ext cx="5338011" cy="4267200"/>
          </a:xfrm>
          <a:prstGeom prst="rect">
            <a:avLst/>
          </a:prstGeom>
          <a:solidFill>
            <a:srgbClr val="30303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364705" y="1812758"/>
            <a:ext cx="5338011" cy="4267200"/>
          </a:xfrm>
          <a:prstGeom prst="rect">
            <a:avLst/>
          </a:prstGeom>
          <a:solidFill>
            <a:srgbClr val="30303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93821" y="2053389"/>
            <a:ext cx="2257926" cy="368969"/>
          </a:xfrm>
          <a:prstGeom prst="rect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242510" y="2053388"/>
            <a:ext cx="2257926" cy="368969"/>
          </a:xfrm>
          <a:prstGeom prst="rect">
            <a:avLst/>
          </a:prstGeom>
          <a:solidFill>
            <a:srgbClr val="D907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651458" y="2053387"/>
            <a:ext cx="2257926" cy="368969"/>
          </a:xfrm>
          <a:prstGeom prst="rect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177087" y="2045361"/>
            <a:ext cx="2257926" cy="368969"/>
          </a:xfrm>
          <a:prstGeom prst="rect">
            <a:avLst/>
          </a:prstGeom>
          <a:solidFill>
            <a:srgbClr val="D907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721493" y="2094049"/>
            <a:ext cx="20774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Доработка основы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252035" y="2081248"/>
            <a:ext cx="22579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Сложные сценарии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651458" y="2078214"/>
            <a:ext cx="22769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Глубокая интеграция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9196137" y="2078214"/>
            <a:ext cx="26949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Персонализация и тесты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636780" y="2677784"/>
            <a:ext cx="2372007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В первом полугодии фокус на доведении прототипа до устойчивого рабочего инструмента: стабилизация ядра, надежная поддержка базовых команд ОС, устранение критических ошибок и обеспечение плавной голосовой навигации, чтобы дизайнеры могли уверенно использовать ассистента в ежедневных задачах.</a:t>
            </a:r>
            <a:endParaRPr kumimoji="0" lang="ru-RU" altLang="ru-RU" sz="13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199142" y="2662987"/>
            <a:ext cx="231082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Во втором квартале планируется внедрение сложных цепочек действий: голосовые макросы для типичных креативных сценариев, автоматизация рутинных операций в графических редакторах и ускорение повторяющихся процессов, чтобы освободить больше времени для чистого творчества и экспериментов.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6580473" y="2564706"/>
            <a:ext cx="2347962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Во второй половине года фокус смещается на интеграцию со специализированным софтом: медицинские и обучающие программы, а также нишевые творческие инструменты, чтобы голосовой ассистент органично встраивался в профессиональную экосистему художника и расширял границы привычного рабочего пространства.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9144203" y="2572732"/>
            <a:ext cx="229081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Параллельно будет развиваться персонализация и качество взаимодействия: настройка ассистента под разные профили пользователей, адаптация к стилю речи, улучшение распознавания и постоянное тестирование с реальными людьми, чтобы голосовые команды становились естественным продолжением творческого процесса.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44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Расширенные сценарии использования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Круговая стрелка 9"/>
          <p:cNvSpPr/>
          <p:nvPr/>
        </p:nvSpPr>
        <p:spPr>
          <a:xfrm rot="5400000">
            <a:off x="3802856" y="1478280"/>
            <a:ext cx="4586288" cy="4586288"/>
          </a:xfrm>
          <a:prstGeom prst="circularArrow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Круговая стрелка 10"/>
          <p:cNvSpPr/>
          <p:nvPr/>
        </p:nvSpPr>
        <p:spPr>
          <a:xfrm rot="16200000">
            <a:off x="3513992" y="1478280"/>
            <a:ext cx="4586288" cy="4586288"/>
          </a:xfrm>
          <a:prstGeom prst="circularArrow">
            <a:avLst/>
          </a:prstGeom>
          <a:solidFill>
            <a:srgbClr val="0A6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802856" y="3508295"/>
            <a:ext cx="655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7504193" y="3508296"/>
            <a:ext cx="655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02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66143" y="2723464"/>
            <a:ext cx="325352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Цикл голосовых 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рабочих сценариев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66143" y="3200518"/>
            <a:ext cx="25943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Пользователь запускает сценарий «Подготовь рабочее место», ассистент поочерёдно открывает нужные программы и окна, создавая устойчивую творческую среду без лишних действий.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389144" y="2708075"/>
            <a:ext cx="4427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Адаптация и улучшение ассистента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8389144" y="3200518"/>
            <a:ext cx="289305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Poppins"/>
              </a:rPr>
              <a:t>Ассистент поддерживает специализированное ПО и типовые фразы учреждений, собирает реальные команды, анализирует их и циклично улучшает взаимодействие, подстраиваясь под творческие привычки.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7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23" y="137160"/>
            <a:ext cx="11579696" cy="5791199"/>
          </a:xfr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15613" y="6158928"/>
            <a:ext cx="35858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Докладчик：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Ерасыл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Кантаев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22960" y="2386428"/>
            <a:ext cx="900684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Poppins"/>
              </a:rPr>
              <a:t>Спасибо за внимание.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809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670</Words>
  <Application>Microsoft Office PowerPoint</Application>
  <PresentationFormat>Широкоэкранный</PresentationFormat>
  <Paragraphs>69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Poppins</vt:lpstr>
      <vt:lpstr>Тема Office</vt:lpstr>
      <vt:lpstr>Презентация PowerPoint</vt:lpstr>
      <vt:lpstr>Презентация PowerPoint</vt:lpstr>
      <vt:lpstr>Презентация PowerPoint</vt:lpstr>
      <vt:lpstr>Вызовы современных интерфейсов </vt:lpstr>
      <vt:lpstr>Кому нужен голосовой ассистент </vt:lpstr>
      <vt:lpstr>Презентация PowerPoint</vt:lpstr>
      <vt:lpstr>Что такое Pika Local </vt:lpstr>
      <vt:lpstr>Ключевые сценарии использования </vt:lpstr>
      <vt:lpstr>Презентация PowerPoint</vt:lpstr>
      <vt:lpstr>Высокоуровневая архитектура Pika Local </vt:lpstr>
      <vt:lpstr>Пост обработки голосовой команды </vt:lpstr>
      <vt:lpstr>Презентация PowerPoint</vt:lpstr>
      <vt:lpstr>Дорожная карта </vt:lpstr>
      <vt:lpstr>Расширенные сценарии использования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12</cp:revision>
  <dcterms:created xsi:type="dcterms:W3CDTF">2026-04-13T15:42:17Z</dcterms:created>
  <dcterms:modified xsi:type="dcterms:W3CDTF">2026-04-13T17:19:03Z</dcterms:modified>
</cp:coreProperties>
</file>